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6858000" cy="9144000"/>
  <p:embeddedFontLst>
    <p:embeddedFont>
      <p:font typeface="Anca Coder" panose="020B0604020202020204" charset="0"/>
      <p:regular r:id="rId28"/>
    </p:embeddedFont>
    <p:embeddedFont>
      <p:font typeface="Glacial Indifference" panose="020B0604020202020204" charset="0"/>
      <p:regular r:id="rId29"/>
    </p:embeddedFont>
    <p:embeddedFont>
      <p:font typeface="Glacial Indifference Bold" panose="020B0604020202020204" charset="0"/>
      <p:regular r:id="rId30"/>
    </p:embeddedFont>
    <p:embeddedFont>
      <p:font typeface="League Spartan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3351692" cy="4114800"/>
          </a:xfrm>
          <a:custGeom>
            <a:avLst/>
            <a:gdLst/>
            <a:ahLst/>
            <a:cxnLst/>
            <a:rect l="l" t="t" r="r" b="b"/>
            <a:pathLst>
              <a:path w="3351692" h="4114800">
                <a:moveTo>
                  <a:pt x="0" y="0"/>
                </a:moveTo>
                <a:lnTo>
                  <a:pt x="3351692" y="0"/>
                </a:lnTo>
                <a:lnTo>
                  <a:pt x="3351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 flipH="1">
            <a:off x="0" y="0"/>
            <a:ext cx="2521001" cy="4114800"/>
          </a:xfrm>
          <a:custGeom>
            <a:avLst/>
            <a:gdLst/>
            <a:ahLst/>
            <a:cxnLst/>
            <a:rect l="l" t="t" r="r" b="b"/>
            <a:pathLst>
              <a:path w="2521001" h="4114800">
                <a:moveTo>
                  <a:pt x="2521001" y="0"/>
                </a:moveTo>
                <a:lnTo>
                  <a:pt x="0" y="0"/>
                </a:lnTo>
                <a:lnTo>
                  <a:pt x="0" y="4114800"/>
                </a:lnTo>
                <a:lnTo>
                  <a:pt x="2521001" y="4114800"/>
                </a:lnTo>
                <a:lnTo>
                  <a:pt x="252100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5766999" y="6172200"/>
            <a:ext cx="2521001" cy="4114800"/>
          </a:xfrm>
          <a:custGeom>
            <a:avLst/>
            <a:gdLst/>
            <a:ahLst/>
            <a:cxnLst/>
            <a:rect l="l" t="t" r="r" b="b"/>
            <a:pathLst>
              <a:path w="2521001" h="4114800">
                <a:moveTo>
                  <a:pt x="0" y="0"/>
                </a:moveTo>
                <a:lnTo>
                  <a:pt x="2521001" y="0"/>
                </a:lnTo>
                <a:lnTo>
                  <a:pt x="25210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618725" y="3460115"/>
            <a:ext cx="15050551" cy="319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SENTIMENT ANALYSIS DI POST SU BLUESKY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54503" y="6569710"/>
            <a:ext cx="8578994" cy="644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48"/>
              </a:lnSpc>
            </a:pPr>
            <a:r>
              <a:rPr lang="en-US" sz="3891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Vito Piegari</a:t>
            </a:r>
            <a:endParaRPr lang="en-US" sz="3891" dirty="0">
              <a:solidFill>
                <a:srgbClr val="B24B3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3351692" cy="4114800"/>
          </a:xfrm>
          <a:custGeom>
            <a:avLst/>
            <a:gdLst/>
            <a:ahLst/>
            <a:cxnLst/>
            <a:rect l="l" t="t" r="r" b="b"/>
            <a:pathLst>
              <a:path w="3351692" h="4114800">
                <a:moveTo>
                  <a:pt x="0" y="0"/>
                </a:moveTo>
                <a:lnTo>
                  <a:pt x="3351692" y="0"/>
                </a:lnTo>
                <a:lnTo>
                  <a:pt x="3351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2705956" y="2302638"/>
            <a:ext cx="1296419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Introduzione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39857" y="4379081"/>
            <a:ext cx="10008286" cy="1751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2"/>
              </a:lnSpc>
            </a:pP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Analisi di post su bluesky utilizzando come caso di studio i post sulla presidente del consiglio Giorgia Meloni</a:t>
            </a:r>
          </a:p>
        </p:txBody>
      </p:sp>
    </p:spTree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3351692" cy="4114800"/>
          </a:xfrm>
          <a:custGeom>
            <a:avLst/>
            <a:gdLst/>
            <a:ahLst/>
            <a:cxnLst/>
            <a:rect l="l" t="t" r="r" b="b"/>
            <a:pathLst>
              <a:path w="3351692" h="4114800">
                <a:moveTo>
                  <a:pt x="0" y="0"/>
                </a:moveTo>
                <a:lnTo>
                  <a:pt x="3351692" y="0"/>
                </a:lnTo>
                <a:lnTo>
                  <a:pt x="3351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2705956" y="2302638"/>
            <a:ext cx="1296419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Introduzione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39857" y="4379081"/>
            <a:ext cx="10008286" cy="1161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2"/>
              </a:lnSpc>
            </a:pP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Analisi di post su bluesky utilizzando come caso di studio la presidente del consiglio Giorgia Meloni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636321" y="6070990"/>
            <a:ext cx="11015358" cy="2287068"/>
            <a:chOff x="0" y="0"/>
            <a:chExt cx="2901188" cy="6023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01188" cy="602364"/>
            </a:xfrm>
            <a:custGeom>
              <a:avLst/>
              <a:gdLst/>
              <a:ahLst/>
              <a:cxnLst/>
              <a:rect l="l" t="t" r="r" b="b"/>
              <a:pathLst>
                <a:path w="2901188" h="602364">
                  <a:moveTo>
                    <a:pt x="2901188" y="33033"/>
                  </a:moveTo>
                  <a:lnTo>
                    <a:pt x="2901188" y="569331"/>
                  </a:lnTo>
                  <a:cubicBezTo>
                    <a:pt x="2901188" y="578091"/>
                    <a:pt x="2897708" y="586494"/>
                    <a:pt x="2891513" y="592688"/>
                  </a:cubicBezTo>
                  <a:cubicBezTo>
                    <a:pt x="2885318" y="598883"/>
                    <a:pt x="2876916" y="602364"/>
                    <a:pt x="2868155" y="602364"/>
                  </a:cubicBezTo>
                  <a:lnTo>
                    <a:pt x="33033" y="602364"/>
                  </a:lnTo>
                  <a:cubicBezTo>
                    <a:pt x="24272" y="602364"/>
                    <a:pt x="15870" y="598883"/>
                    <a:pt x="9675" y="592688"/>
                  </a:cubicBezTo>
                  <a:cubicBezTo>
                    <a:pt x="3480" y="586494"/>
                    <a:pt x="0" y="578091"/>
                    <a:pt x="0" y="569331"/>
                  </a:cubicBezTo>
                  <a:lnTo>
                    <a:pt x="0" y="33033"/>
                  </a:lnTo>
                  <a:cubicBezTo>
                    <a:pt x="0" y="24272"/>
                    <a:pt x="3480" y="15870"/>
                    <a:pt x="9675" y="9675"/>
                  </a:cubicBezTo>
                  <a:cubicBezTo>
                    <a:pt x="15870" y="3480"/>
                    <a:pt x="24272" y="0"/>
                    <a:pt x="33033" y="0"/>
                  </a:cubicBezTo>
                  <a:lnTo>
                    <a:pt x="2868155" y="0"/>
                  </a:lnTo>
                  <a:cubicBezTo>
                    <a:pt x="2876916" y="0"/>
                    <a:pt x="2885318" y="3480"/>
                    <a:pt x="2891513" y="9675"/>
                  </a:cubicBezTo>
                  <a:cubicBezTo>
                    <a:pt x="2897708" y="15870"/>
                    <a:pt x="2901188" y="24272"/>
                    <a:pt x="2901188" y="33033"/>
                  </a:cubicBezTo>
                  <a:close/>
                </a:path>
              </a:pathLst>
            </a:custGeom>
            <a:solidFill>
              <a:srgbClr val="B24B3D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901188" cy="649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Bluesky è una piattaforma social emergente e decentralizzata che permette di avere accesso ai post tramite API in maniera gratuita. </a:t>
              </a:r>
            </a:p>
          </p:txBody>
        </p:sp>
      </p:grpSp>
    </p:spTree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3351692" cy="4114800"/>
          </a:xfrm>
          <a:custGeom>
            <a:avLst/>
            <a:gdLst/>
            <a:ahLst/>
            <a:cxnLst/>
            <a:rect l="l" t="t" r="r" b="b"/>
            <a:pathLst>
              <a:path w="3351692" h="4114800">
                <a:moveTo>
                  <a:pt x="0" y="0"/>
                </a:moveTo>
                <a:lnTo>
                  <a:pt x="3351692" y="0"/>
                </a:lnTo>
                <a:lnTo>
                  <a:pt x="3351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4039831" y="2378838"/>
            <a:ext cx="10208339" cy="903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8"/>
              </a:lnSpc>
            </a:pPr>
            <a:r>
              <a:rPr lang="en-US" sz="5348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Obiettivo del progetto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83910" y="4234661"/>
            <a:ext cx="10825627" cy="1725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2"/>
              </a:lnSpc>
            </a:pP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Costruire una pipeline NLP per analizzare l’evoluzione temporale del sentiment, individuarne i picchi e analizzarne i topic nei momenti di picco.</a:t>
            </a:r>
          </a:p>
        </p:txBody>
      </p:sp>
    </p:spTree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3351692" cy="4114800"/>
          </a:xfrm>
          <a:custGeom>
            <a:avLst/>
            <a:gdLst/>
            <a:ahLst/>
            <a:cxnLst/>
            <a:rect l="l" t="t" r="r" b="b"/>
            <a:pathLst>
              <a:path w="3351692" h="4114800">
                <a:moveTo>
                  <a:pt x="0" y="0"/>
                </a:moveTo>
                <a:lnTo>
                  <a:pt x="3351692" y="0"/>
                </a:lnTo>
                <a:lnTo>
                  <a:pt x="3351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4250943" y="1599017"/>
            <a:ext cx="9786114" cy="1811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Selezione delle keywords e raccolta dei dati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24156" y="4179980"/>
            <a:ext cx="10983752" cy="1725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42"/>
              </a:lnSpc>
            </a:pPr>
            <a:r>
              <a:rPr lang="en-US" sz="3316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KeyBert</a:t>
            </a: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con modello </a:t>
            </a:r>
            <a:r>
              <a:rPr lang="en-US" sz="3316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intfloat/multilingual-e5-small</a:t>
            </a: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su un dataset di 1000 post per trovare le keywords correlate a “meloni”.</a:t>
            </a:r>
          </a:p>
        </p:txBody>
      </p:sp>
    </p:spTree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3351692" cy="4114800"/>
          </a:xfrm>
          <a:custGeom>
            <a:avLst/>
            <a:gdLst/>
            <a:ahLst/>
            <a:cxnLst/>
            <a:rect l="l" t="t" r="r" b="b"/>
            <a:pathLst>
              <a:path w="3351692" h="4114800">
                <a:moveTo>
                  <a:pt x="0" y="0"/>
                </a:moveTo>
                <a:lnTo>
                  <a:pt x="3351692" y="0"/>
                </a:lnTo>
                <a:lnTo>
                  <a:pt x="3351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4250943" y="1599017"/>
            <a:ext cx="9786114" cy="1811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Selezione delle keywords e raccolta dei dati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24156" y="4179980"/>
            <a:ext cx="10983752" cy="1725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42"/>
              </a:lnSpc>
            </a:pPr>
            <a:r>
              <a:rPr lang="en-US" sz="3316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KeyBert</a:t>
            </a: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con modello </a:t>
            </a:r>
            <a:r>
              <a:rPr lang="en-US" sz="3316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intfloat/multilingual-e5-small</a:t>
            </a: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su un dataset di 1000 post per trovare le keywords correlate a “meloni”.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62144" y="6886575"/>
            <a:ext cx="10163713" cy="167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8"/>
              </a:lnSpc>
              <a:spcBef>
                <a:spcPct val="0"/>
              </a:spcBef>
            </a:pPr>
            <a:r>
              <a:rPr lang="en-US" sz="4777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['meloni', 'gov</a:t>
            </a:r>
            <a:r>
              <a:rPr lang="en-US" sz="4777" b="1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erno meloni', 'giorgia meloni']</a:t>
            </a:r>
          </a:p>
        </p:txBody>
      </p:sp>
    </p:spTree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3351692" cy="4114800"/>
          </a:xfrm>
          <a:custGeom>
            <a:avLst/>
            <a:gdLst/>
            <a:ahLst/>
            <a:cxnLst/>
            <a:rect l="l" t="t" r="r" b="b"/>
            <a:pathLst>
              <a:path w="3351692" h="4114800">
                <a:moveTo>
                  <a:pt x="0" y="0"/>
                </a:moveTo>
                <a:lnTo>
                  <a:pt x="3351692" y="0"/>
                </a:lnTo>
                <a:lnTo>
                  <a:pt x="3351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4250943" y="1599017"/>
            <a:ext cx="9786114" cy="1811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Selezione delle keywords e raccolta dei dati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24156" y="4179980"/>
            <a:ext cx="10983752" cy="1725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42"/>
              </a:lnSpc>
            </a:pPr>
            <a:r>
              <a:rPr lang="en-US" sz="3316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KeyBert</a:t>
            </a: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con modello </a:t>
            </a:r>
            <a:r>
              <a:rPr lang="en-US" sz="3316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intfloat/multilingual-e5-small</a:t>
            </a: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su un dataset di 1000 post per trovare le keywords correlate a “meloni”.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24156" y="6915150"/>
            <a:ext cx="10983752" cy="1144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2"/>
              </a:lnSpc>
            </a:pPr>
            <a:r>
              <a:rPr lang="en-US" sz="3316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Dataset prodotto: </a:t>
            </a: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13465 post tra il 01/01/2026 e il 18/06/2026</a:t>
            </a:r>
          </a:p>
        </p:txBody>
      </p:sp>
    </p:spTree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3351692" cy="4114800"/>
          </a:xfrm>
          <a:custGeom>
            <a:avLst/>
            <a:gdLst/>
            <a:ahLst/>
            <a:cxnLst/>
            <a:rect l="l" t="t" r="r" b="b"/>
            <a:pathLst>
              <a:path w="3351692" h="4114800">
                <a:moveTo>
                  <a:pt x="0" y="0"/>
                </a:moveTo>
                <a:lnTo>
                  <a:pt x="3351692" y="0"/>
                </a:lnTo>
                <a:lnTo>
                  <a:pt x="3351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2847860" y="2302638"/>
            <a:ext cx="12680386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Preprocessing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83910" y="4234661"/>
            <a:ext cx="10825627" cy="1144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2"/>
              </a:lnSpc>
            </a:pPr>
            <a:r>
              <a:rPr lang="en-US" sz="3316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Cleaning del testo dei post</a:t>
            </a: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Rimozione URL, menzioni, accenti, hashtag / simboli / emotticons</a:t>
            </a:r>
          </a:p>
        </p:txBody>
      </p:sp>
    </p:spTree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3351692" cy="4114800"/>
          </a:xfrm>
          <a:custGeom>
            <a:avLst/>
            <a:gdLst/>
            <a:ahLst/>
            <a:cxnLst/>
            <a:rect l="l" t="t" r="r" b="b"/>
            <a:pathLst>
              <a:path w="3351692" h="4114800">
                <a:moveTo>
                  <a:pt x="0" y="0"/>
                </a:moveTo>
                <a:lnTo>
                  <a:pt x="3351692" y="0"/>
                </a:lnTo>
                <a:lnTo>
                  <a:pt x="3351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4250943" y="1599017"/>
            <a:ext cx="9786114" cy="1811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Modelli di sentiment analysis utilizzati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24156" y="4179980"/>
            <a:ext cx="10983752" cy="230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42"/>
              </a:lnSpc>
            </a:pPr>
            <a:r>
              <a:rPr lang="en-US" sz="3316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Modello specifico italiano (</a:t>
            </a: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MilaNLProc/feel-it-italian-sentiment): basato su UmBERTo (basato a sua volta su RoBERTa ma ottimizzato per l’italiano), e fine-tuned su tweet in lingua italiana per fare sentiment analysis.</a:t>
            </a:r>
          </a:p>
        </p:txBody>
      </p:sp>
    </p:spTree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3351692" cy="4114800"/>
          </a:xfrm>
          <a:custGeom>
            <a:avLst/>
            <a:gdLst/>
            <a:ahLst/>
            <a:cxnLst/>
            <a:rect l="l" t="t" r="r" b="b"/>
            <a:pathLst>
              <a:path w="3351692" h="4114800">
                <a:moveTo>
                  <a:pt x="0" y="0"/>
                </a:moveTo>
                <a:lnTo>
                  <a:pt x="3351692" y="0"/>
                </a:lnTo>
                <a:lnTo>
                  <a:pt x="3351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4250943" y="1599017"/>
            <a:ext cx="9786114" cy="1811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Modelli di sentiment analysis utilizzati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24156" y="4179980"/>
            <a:ext cx="10983752" cy="230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42"/>
              </a:lnSpc>
            </a:pPr>
            <a:r>
              <a:rPr lang="en-US" sz="3316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Modello multilingua (</a:t>
            </a: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cardiffnlp/twitter-roberta-base-sentiment-latest): basato su RoBERTA, addestrato su milioni di tweet e aggiornato di recente, ottimizzato per il linguaggio dei social media.</a:t>
            </a:r>
          </a:p>
        </p:txBody>
      </p:sp>
    </p:spTree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3351692" cy="4114800"/>
          </a:xfrm>
          <a:custGeom>
            <a:avLst/>
            <a:gdLst/>
            <a:ahLst/>
            <a:cxnLst/>
            <a:rect l="l" t="t" r="r" b="b"/>
            <a:pathLst>
              <a:path w="3351692" h="4114800">
                <a:moveTo>
                  <a:pt x="0" y="0"/>
                </a:moveTo>
                <a:lnTo>
                  <a:pt x="3351692" y="0"/>
                </a:lnTo>
                <a:lnTo>
                  <a:pt x="3351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4250943" y="1599017"/>
            <a:ext cx="9786114" cy="1811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Normalizzazione dei risultati prodotti dai modelli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24156" y="4179980"/>
            <a:ext cx="10983752" cy="404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42"/>
              </a:lnSpc>
            </a:pP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 modelli restituiscono una distribuzione di probabilità {classe: P(classe)}, è stato calcolato un valore in grado di rappresentare il sentiment in una scala continua tra 0 e 1 tale che:</a:t>
            </a:r>
          </a:p>
          <a:p>
            <a:pPr marL="715958" lvl="1" indent="-357979" algn="l">
              <a:lnSpc>
                <a:spcPts val="4642"/>
              </a:lnSpc>
              <a:buFont typeface="Arial"/>
              <a:buChar char="•"/>
            </a:pPr>
            <a:r>
              <a:rPr lang="en-US" sz="3316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negativo</a:t>
            </a: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valori &lt; 0.45</a:t>
            </a:r>
          </a:p>
          <a:p>
            <a:pPr marL="715958" lvl="1" indent="-357979" algn="l">
              <a:lnSpc>
                <a:spcPts val="4642"/>
              </a:lnSpc>
              <a:buFont typeface="Arial"/>
              <a:buChar char="•"/>
            </a:pPr>
            <a:r>
              <a:rPr lang="en-US" sz="3316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neutrale</a:t>
            </a: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valori compresi tra 0.45 e 0.55</a:t>
            </a:r>
          </a:p>
          <a:p>
            <a:pPr marL="715958" lvl="1" indent="-357979" algn="l">
              <a:lnSpc>
                <a:spcPts val="4642"/>
              </a:lnSpc>
              <a:buFont typeface="Arial"/>
              <a:buChar char="•"/>
            </a:pPr>
            <a:r>
              <a:rPr lang="en-US" sz="3316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positivo</a:t>
            </a: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valori &gt; 0.55</a:t>
            </a:r>
          </a:p>
        </p:txBody>
      </p:sp>
    </p:spTree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4114800" y="2680469"/>
            <a:ext cx="9786114" cy="887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Risultati sentiment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54311" y="3500876"/>
            <a:ext cx="10983752" cy="1144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42"/>
              </a:lnSpc>
            </a:pP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 risultati prodotti dai modelli sono stati significativamente diversi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591" y="3077558"/>
            <a:ext cx="17208001" cy="8298098"/>
          </a:xfrm>
          <a:prstGeom prst="rect">
            <a:avLst/>
          </a:prstGeom>
        </p:spPr>
      </p:pic>
      <p:sp>
        <p:nvSpPr>
          <p:cNvPr id="9" name="Freeform 9"/>
          <p:cNvSpPr/>
          <p:nvPr/>
        </p:nvSpPr>
        <p:spPr>
          <a:xfrm flipH="1">
            <a:off x="-231800" y="7848530"/>
            <a:ext cx="2521001" cy="4114800"/>
          </a:xfrm>
          <a:custGeom>
            <a:avLst/>
            <a:gdLst/>
            <a:ahLst/>
            <a:cxnLst/>
            <a:rect l="l" t="t" r="r" b="b"/>
            <a:pathLst>
              <a:path w="2521001" h="4114800">
                <a:moveTo>
                  <a:pt x="2521000" y="0"/>
                </a:moveTo>
                <a:lnTo>
                  <a:pt x="0" y="0"/>
                </a:lnTo>
                <a:lnTo>
                  <a:pt x="0" y="4114800"/>
                </a:lnTo>
                <a:lnTo>
                  <a:pt x="2521000" y="4114800"/>
                </a:lnTo>
                <a:lnTo>
                  <a:pt x="25210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3351692" cy="4114800"/>
          </a:xfrm>
          <a:custGeom>
            <a:avLst/>
            <a:gdLst/>
            <a:ahLst/>
            <a:cxnLst/>
            <a:rect l="l" t="t" r="r" b="b"/>
            <a:pathLst>
              <a:path w="3351692" h="4114800">
                <a:moveTo>
                  <a:pt x="0" y="0"/>
                </a:moveTo>
                <a:lnTo>
                  <a:pt x="3351692" y="0"/>
                </a:lnTo>
                <a:lnTo>
                  <a:pt x="3351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4114800" y="2680469"/>
            <a:ext cx="9786114" cy="887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Risultati sentiment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52124" y="4319854"/>
            <a:ext cx="10983752" cy="230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42"/>
              </a:lnSpc>
            </a:pP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 risultati prodotti dai modelli sono stati significativamente diversi:</a:t>
            </a:r>
          </a:p>
          <a:p>
            <a:pPr algn="just">
              <a:lnSpc>
                <a:spcPts val="4642"/>
              </a:lnSpc>
            </a:pP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 13465 post analizzati i modelli hanno concordato in </a:t>
            </a:r>
            <a:r>
              <a:rPr lang="en-US" sz="3316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915 </a:t>
            </a: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post (6.8%) e sono stati in disaccordo nel restante 93.2%</a:t>
            </a:r>
          </a:p>
        </p:txBody>
      </p:sp>
    </p:spTree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3351692" cy="4114800"/>
          </a:xfrm>
          <a:custGeom>
            <a:avLst/>
            <a:gdLst/>
            <a:ahLst/>
            <a:cxnLst/>
            <a:rect l="l" t="t" r="r" b="b"/>
            <a:pathLst>
              <a:path w="3351692" h="4114800">
                <a:moveTo>
                  <a:pt x="0" y="0"/>
                </a:moveTo>
                <a:lnTo>
                  <a:pt x="3351692" y="0"/>
                </a:lnTo>
                <a:lnTo>
                  <a:pt x="3351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3943848" y="4419040"/>
            <a:ext cx="10689107" cy="6443996"/>
          </a:xfrm>
          <a:custGeom>
            <a:avLst/>
            <a:gdLst/>
            <a:ahLst/>
            <a:cxnLst/>
            <a:rect l="l" t="t" r="r" b="b"/>
            <a:pathLst>
              <a:path w="10689107" h="6443996">
                <a:moveTo>
                  <a:pt x="0" y="0"/>
                </a:moveTo>
                <a:lnTo>
                  <a:pt x="10689106" y="0"/>
                </a:lnTo>
                <a:lnTo>
                  <a:pt x="10689106" y="6443996"/>
                </a:lnTo>
                <a:lnTo>
                  <a:pt x="0" y="64439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19" t="-3197" b="-3628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4250943" y="1959937"/>
            <a:ext cx="9786114" cy="887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LLM as a judge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52124" y="3104960"/>
            <a:ext cx="10983752" cy="1144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42"/>
              </a:lnSpc>
            </a:pP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Utilizzando il modello Qwen 3.5-4B (temp: 0.1) è stata effettuata pairwise comparison tra i risultati dei due modelli.</a:t>
            </a:r>
          </a:p>
        </p:txBody>
      </p:sp>
    </p:spTree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3351692" cy="4114800"/>
          </a:xfrm>
          <a:custGeom>
            <a:avLst/>
            <a:gdLst/>
            <a:ahLst/>
            <a:cxnLst/>
            <a:rect l="l" t="t" r="r" b="b"/>
            <a:pathLst>
              <a:path w="3351692" h="4114800">
                <a:moveTo>
                  <a:pt x="0" y="0"/>
                </a:moveTo>
                <a:lnTo>
                  <a:pt x="3351692" y="0"/>
                </a:lnTo>
                <a:lnTo>
                  <a:pt x="3351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4250943" y="2552369"/>
            <a:ext cx="9786114" cy="887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LLM as a judge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90845" y="3931030"/>
            <a:ext cx="8222397" cy="404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42"/>
              </a:lnSpc>
            </a:pP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Il modello multilingua è stato scelto come migliore il 70% delle volte.</a:t>
            </a:r>
          </a:p>
          <a:p>
            <a:pPr algn="just">
              <a:lnSpc>
                <a:spcPts val="4642"/>
              </a:lnSpc>
            </a:pP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Il modello italiano tende a classificare negativo i post che contengono parole forti anche se usati in modo neutrale o ironico.</a:t>
            </a:r>
          </a:p>
          <a:p>
            <a:pPr algn="just">
              <a:lnSpc>
                <a:spcPts val="4642"/>
              </a:lnSpc>
            </a:pP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NB: è stato analizzato un campione di circa 2000 post per limiti tecnici.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5405" y="3531418"/>
            <a:ext cx="5595449" cy="4750917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4114800" y="2689994"/>
            <a:ext cx="9786114" cy="70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Rilevamento dei picchi di sentiment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9200" y="3873922"/>
            <a:ext cx="6971228" cy="444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70"/>
              </a:lnSpc>
            </a:pPr>
            <a:r>
              <a:rPr lang="en-US" sz="36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Individuazione dei giorni in cui il volume di post per ciascuna classe supera la media di 1.5 stddev.</a:t>
            </a:r>
          </a:p>
          <a:p>
            <a:pPr algn="just">
              <a:lnSpc>
                <a:spcPts val="5070"/>
              </a:lnSpc>
            </a:pPr>
            <a:r>
              <a:rPr lang="en-US" sz="3622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obiettivo</a:t>
            </a:r>
            <a:r>
              <a:rPr lang="en-US" sz="36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individuare le date anomale per capire quali eventi abbiano scatenato la discussione degli utenti</a:t>
            </a:r>
          </a:p>
        </p:txBody>
      </p:sp>
      <p:sp>
        <p:nvSpPr>
          <p:cNvPr id="8" name="Freeform 8"/>
          <p:cNvSpPr/>
          <p:nvPr/>
        </p:nvSpPr>
        <p:spPr>
          <a:xfrm>
            <a:off x="9424268" y="3732901"/>
            <a:ext cx="7835032" cy="5258839"/>
          </a:xfrm>
          <a:custGeom>
            <a:avLst/>
            <a:gdLst/>
            <a:ahLst/>
            <a:cxnLst/>
            <a:rect l="l" t="t" r="r" b="b"/>
            <a:pathLst>
              <a:path w="7835032" h="5258839">
                <a:moveTo>
                  <a:pt x="0" y="0"/>
                </a:moveTo>
                <a:lnTo>
                  <a:pt x="7835032" y="0"/>
                </a:lnTo>
                <a:lnTo>
                  <a:pt x="7835032" y="5258839"/>
                </a:lnTo>
                <a:lnTo>
                  <a:pt x="0" y="52588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 flipH="1">
            <a:off x="-231800" y="7848530"/>
            <a:ext cx="2521001" cy="4114800"/>
          </a:xfrm>
          <a:custGeom>
            <a:avLst/>
            <a:gdLst/>
            <a:ahLst/>
            <a:cxnLst/>
            <a:rect l="l" t="t" r="r" b="b"/>
            <a:pathLst>
              <a:path w="2521001" h="4114800">
                <a:moveTo>
                  <a:pt x="2521000" y="0"/>
                </a:moveTo>
                <a:lnTo>
                  <a:pt x="0" y="0"/>
                </a:lnTo>
                <a:lnTo>
                  <a:pt x="0" y="4114800"/>
                </a:lnTo>
                <a:lnTo>
                  <a:pt x="2521000" y="4114800"/>
                </a:lnTo>
                <a:lnTo>
                  <a:pt x="25210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4114800" y="2689994"/>
            <a:ext cx="9786114" cy="70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Topic modeling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9200" y="3873922"/>
            <a:ext cx="15024502" cy="316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70"/>
              </a:lnSpc>
            </a:pPr>
            <a:r>
              <a:rPr lang="en-US" sz="3622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Tecnologia utilizzata</a:t>
            </a:r>
            <a:r>
              <a:rPr lang="en-US" sz="36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BERTopic</a:t>
            </a:r>
          </a:p>
          <a:p>
            <a:pPr algn="just">
              <a:lnSpc>
                <a:spcPts val="5070"/>
              </a:lnSpc>
            </a:pPr>
            <a:r>
              <a:rPr lang="en-US" sz="36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 prime esecuzioni hanno generato topic confusionari, quindi è stato necessario rimuovere le stopwords italiane tramite il dizionario italiano di NLTK, dopo questo passaggio i topic hanno acquisito coerenza, esempio:</a:t>
            </a:r>
          </a:p>
          <a:p>
            <a:pPr algn="just">
              <a:lnSpc>
                <a:spcPts val="5070"/>
              </a:lnSpc>
            </a:pPr>
            <a:r>
              <a:rPr lang="en-US" sz="3622">
                <a:solidFill>
                  <a:srgbClr val="B24B3D"/>
                </a:solidFill>
                <a:latin typeface="Anca Coder"/>
                <a:ea typeface="Anca Coder"/>
                <a:cs typeface="Anca Coder"/>
                <a:sym typeface="Anca Coder"/>
              </a:rPr>
              <a:t>meloni_trump_no_governo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231800" y="7848530"/>
            <a:ext cx="2521001" cy="4114800"/>
          </a:xfrm>
          <a:custGeom>
            <a:avLst/>
            <a:gdLst/>
            <a:ahLst/>
            <a:cxnLst/>
            <a:rect l="l" t="t" r="r" b="b"/>
            <a:pathLst>
              <a:path w="2521001" h="4114800">
                <a:moveTo>
                  <a:pt x="2521000" y="0"/>
                </a:moveTo>
                <a:lnTo>
                  <a:pt x="0" y="0"/>
                </a:lnTo>
                <a:lnTo>
                  <a:pt x="0" y="4114800"/>
                </a:lnTo>
                <a:lnTo>
                  <a:pt x="2521000" y="4114800"/>
                </a:lnTo>
                <a:lnTo>
                  <a:pt x="25210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4114800" y="2689994"/>
            <a:ext cx="9786114" cy="70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Topic modeling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9200" y="3873922"/>
            <a:ext cx="15024502" cy="444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70"/>
              </a:lnSpc>
            </a:pPr>
            <a:r>
              <a:rPr lang="en-US" sz="36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Sono stati provati due approcci:</a:t>
            </a:r>
          </a:p>
          <a:p>
            <a:pPr marL="782001" lvl="1" indent="-391000" algn="l">
              <a:lnSpc>
                <a:spcPts val="5070"/>
              </a:lnSpc>
              <a:buFont typeface="Arial"/>
              <a:buChar char="•"/>
            </a:pPr>
            <a:r>
              <a:rPr lang="en-US" sz="3622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Approccio specifico per sentiment </a:t>
            </a:r>
            <a:r>
              <a:rPr lang="en-US" sz="36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(fallito): Filtrati solo i post con lo specifico sentiment dello spike di quel giorno e analizzarne i topic. Faliito per la presenza di pochi dati, i topic erano poco significativi.</a:t>
            </a:r>
          </a:p>
          <a:p>
            <a:pPr marL="782001" lvl="1" indent="-391000" algn="l">
              <a:lnSpc>
                <a:spcPts val="5070"/>
              </a:lnSpc>
              <a:buFont typeface="Arial"/>
              <a:buChar char="•"/>
            </a:pPr>
            <a:r>
              <a:rPr lang="en-US" sz="3622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Approccio giornaliero</a:t>
            </a:r>
            <a:r>
              <a:rPr lang="en-US" sz="36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(OK): Analizzati tutti i post del giorno indipendentemente dal sentiment. I dati erano sufficienti per estrarre l’argomento di discussione e il contesto generale del giorno. 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231800" y="7848530"/>
            <a:ext cx="2521001" cy="4114800"/>
          </a:xfrm>
          <a:custGeom>
            <a:avLst/>
            <a:gdLst/>
            <a:ahLst/>
            <a:cxnLst/>
            <a:rect l="l" t="t" r="r" b="b"/>
            <a:pathLst>
              <a:path w="2521001" h="4114800">
                <a:moveTo>
                  <a:pt x="2521000" y="0"/>
                </a:moveTo>
                <a:lnTo>
                  <a:pt x="0" y="0"/>
                </a:lnTo>
                <a:lnTo>
                  <a:pt x="0" y="4114800"/>
                </a:lnTo>
                <a:lnTo>
                  <a:pt x="2521000" y="4114800"/>
                </a:lnTo>
                <a:lnTo>
                  <a:pt x="25210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4114800" y="2689994"/>
            <a:ext cx="9786114" cy="70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Topic modeling (RISULTATI)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9200" y="3873922"/>
            <a:ext cx="15024502" cy="538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0"/>
              </a:lnSpc>
            </a:pPr>
            <a:r>
              <a:rPr lang="en-US" sz="3422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SPIKE NEGATIVO</a:t>
            </a:r>
            <a:r>
              <a:rPr lang="en-US" sz="34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un esempio di risultato è quello del 24 marzo 2026, in cui sono usciti i risultati del referendum sulla giustizia in italia.</a:t>
            </a:r>
          </a:p>
          <a:p>
            <a:pPr algn="just">
              <a:lnSpc>
                <a:spcPts val="4790"/>
              </a:lnSpc>
            </a:pPr>
            <a:r>
              <a:rPr lang="en-US" sz="34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 topic principali estratti da BERTopic:</a:t>
            </a:r>
          </a:p>
          <a:p>
            <a:pPr marL="738822" lvl="1" indent="-369411" algn="l">
              <a:lnSpc>
                <a:spcPts val="4790"/>
              </a:lnSpc>
              <a:buFont typeface="Arial"/>
              <a:buChar char="•"/>
            </a:pPr>
            <a:r>
              <a:rPr lang="en-US" sz="3422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Topic 0</a:t>
            </a:r>
            <a:r>
              <a:rPr lang="en-US" sz="34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(91 post): referendum_meloni_no_governo (Critiche al governo sull'esito referendario).</a:t>
            </a:r>
          </a:p>
          <a:p>
            <a:pPr marL="738822" lvl="1" indent="-369411" algn="l">
              <a:lnSpc>
                <a:spcPts val="4790"/>
              </a:lnSpc>
              <a:buFont typeface="Arial"/>
              <a:buChar char="•"/>
            </a:pPr>
            <a:r>
              <a:rPr lang="en-US" sz="3422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Topic 1</a:t>
            </a:r>
            <a:r>
              <a:rPr lang="en-US" sz="34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(54 post): meloni_santanch_dimissioni_pi (Richieste di dimissioni di esponenti politici).</a:t>
            </a:r>
          </a:p>
          <a:p>
            <a:pPr marL="738822" lvl="1" indent="-369411" algn="l">
              <a:lnSpc>
                <a:spcPts val="4790"/>
              </a:lnSpc>
              <a:buFont typeface="Arial"/>
              <a:buChar char="•"/>
            </a:pPr>
            <a:r>
              <a:rPr lang="en-US" sz="3422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Topic 2</a:t>
            </a:r>
            <a:r>
              <a:rPr lang="en-US" sz="34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(24 post): delmastro_bartolozzi_santanch_meloni (Discussioni sulle vicende giudiziarie della maggioranza)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231800" y="7848530"/>
            <a:ext cx="2521001" cy="4114800"/>
          </a:xfrm>
          <a:custGeom>
            <a:avLst/>
            <a:gdLst/>
            <a:ahLst/>
            <a:cxnLst/>
            <a:rect l="l" t="t" r="r" b="b"/>
            <a:pathLst>
              <a:path w="2521001" h="4114800">
                <a:moveTo>
                  <a:pt x="2521000" y="0"/>
                </a:moveTo>
                <a:lnTo>
                  <a:pt x="0" y="0"/>
                </a:lnTo>
                <a:lnTo>
                  <a:pt x="0" y="4114800"/>
                </a:lnTo>
                <a:lnTo>
                  <a:pt x="2521000" y="4114800"/>
                </a:lnTo>
                <a:lnTo>
                  <a:pt x="25210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4114800" y="2689994"/>
            <a:ext cx="9786114" cy="70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Topic modeling (RISULTATI)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9200" y="3873922"/>
            <a:ext cx="15024502" cy="478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0"/>
              </a:lnSpc>
            </a:pPr>
            <a:r>
              <a:rPr lang="en-US" sz="3422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SPIKE POSITIVO</a:t>
            </a:r>
            <a:r>
              <a:rPr lang="en-US" sz="34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Un raro spike positivo è avvenuto il 14 aprile 2026, data in cui è scaduto e non è stato rinnovato il memorandum militare per l’invio di armi a Israele.</a:t>
            </a:r>
          </a:p>
          <a:p>
            <a:pPr algn="just">
              <a:lnSpc>
                <a:spcPts val="4790"/>
              </a:lnSpc>
            </a:pPr>
            <a:r>
              <a:rPr lang="en-US" sz="34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 topic principali estratti da BERTopic:</a:t>
            </a:r>
          </a:p>
          <a:p>
            <a:pPr marL="738822" lvl="1" indent="-369411" algn="l">
              <a:lnSpc>
                <a:spcPts val="4790"/>
              </a:lnSpc>
              <a:buFont typeface="Arial"/>
              <a:buChar char="•"/>
            </a:pPr>
            <a:r>
              <a:rPr lang="en-US" sz="3422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Topic 0</a:t>
            </a:r>
            <a:r>
              <a:rPr lang="en-US" sz="34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(211 post): meloni_trump_papa_giorgia (Discussioni geopolitiche generali).</a:t>
            </a:r>
          </a:p>
          <a:p>
            <a:pPr marL="738822" lvl="1" indent="-369411" algn="l">
              <a:lnSpc>
                <a:spcPts val="4790"/>
              </a:lnSpc>
              <a:buFont typeface="Arial"/>
              <a:buChar char="•"/>
            </a:pPr>
            <a:r>
              <a:rPr lang="en-US" sz="3422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Topic 1</a:t>
            </a:r>
            <a:r>
              <a:rPr lang="en-US" sz="34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(35 post): israele_difesa_rinnovo_automatico (Reazioni positive al mancato rinnovo automatico del memorandum).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231800" y="7848530"/>
            <a:ext cx="2521001" cy="4114800"/>
          </a:xfrm>
          <a:custGeom>
            <a:avLst/>
            <a:gdLst/>
            <a:ahLst/>
            <a:cxnLst/>
            <a:rect l="l" t="t" r="r" b="b"/>
            <a:pathLst>
              <a:path w="2521001" h="4114800">
                <a:moveTo>
                  <a:pt x="2521000" y="0"/>
                </a:moveTo>
                <a:lnTo>
                  <a:pt x="0" y="0"/>
                </a:lnTo>
                <a:lnTo>
                  <a:pt x="0" y="4114800"/>
                </a:lnTo>
                <a:lnTo>
                  <a:pt x="2521000" y="4114800"/>
                </a:lnTo>
                <a:lnTo>
                  <a:pt x="25210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4114800" y="2689994"/>
            <a:ext cx="9786114" cy="70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Topic modeling (RISULTATI)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9200" y="3873922"/>
            <a:ext cx="15024502" cy="4180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0"/>
              </a:lnSpc>
            </a:pPr>
            <a:r>
              <a:rPr lang="en-US" sz="3422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SPIKE NEUTRALE</a:t>
            </a:r>
            <a:r>
              <a:rPr lang="en-US" sz="34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Il 9 aprile 2026, giorno in cui la meloni ha discusso degli esiti del referendum in parlamento, è stato un giorno ricco di notizie flash.</a:t>
            </a:r>
          </a:p>
          <a:p>
            <a:pPr algn="just">
              <a:lnSpc>
                <a:spcPts val="4790"/>
              </a:lnSpc>
            </a:pPr>
            <a:r>
              <a:rPr lang="en-US" sz="34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 topic principali estratti da BERTopic:</a:t>
            </a:r>
          </a:p>
          <a:p>
            <a:pPr marL="738822" lvl="1" indent="-369411" algn="l">
              <a:lnSpc>
                <a:spcPts val="4790"/>
              </a:lnSpc>
              <a:buFont typeface="Arial"/>
              <a:buChar char="•"/>
            </a:pPr>
            <a:r>
              <a:rPr lang="en-US" sz="3422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Topic 0</a:t>
            </a:r>
            <a:r>
              <a:rPr lang="en-US" sz="34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(134 post su 206 totali): meloni_governo_parlamento_trump (Condivisione di lanci di agenzia e resoconti della seduta).</a:t>
            </a:r>
          </a:p>
          <a:p>
            <a:pPr marL="738822" lvl="1" indent="-369411" algn="l">
              <a:lnSpc>
                <a:spcPts val="4790"/>
              </a:lnSpc>
              <a:buFont typeface="Arial"/>
              <a:buChar char="•"/>
            </a:pPr>
            <a:r>
              <a:rPr lang="en-US" sz="3422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Topic 1</a:t>
            </a:r>
            <a:r>
              <a:rPr lang="en-US" sz="34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(25 post): video_meloni_referendum_governo (brevi didascalie di foto / video).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231800" y="7848530"/>
            <a:ext cx="2521001" cy="4114800"/>
          </a:xfrm>
          <a:custGeom>
            <a:avLst/>
            <a:gdLst/>
            <a:ahLst/>
            <a:cxnLst/>
            <a:rect l="l" t="t" r="r" b="b"/>
            <a:pathLst>
              <a:path w="2521001" h="4114800">
                <a:moveTo>
                  <a:pt x="2521000" y="0"/>
                </a:moveTo>
                <a:lnTo>
                  <a:pt x="0" y="0"/>
                </a:lnTo>
                <a:lnTo>
                  <a:pt x="0" y="4114800"/>
                </a:lnTo>
                <a:lnTo>
                  <a:pt x="2521000" y="4114800"/>
                </a:lnTo>
                <a:lnTo>
                  <a:pt x="25210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4114800" y="1948101"/>
            <a:ext cx="9786114" cy="1429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Analisi token frequenti per classe di sentiment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52612" y="3538291"/>
            <a:ext cx="14182776" cy="478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0"/>
              </a:lnSpc>
            </a:pPr>
            <a:r>
              <a:rPr lang="en-US" sz="34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Sono stati analizzati i token più frequenti per ogni classe di sentiment:</a:t>
            </a:r>
          </a:p>
          <a:p>
            <a:pPr marL="738822" lvl="1" indent="-369411" algn="l">
              <a:lnSpc>
                <a:spcPts val="4790"/>
              </a:lnSpc>
              <a:buFont typeface="Arial"/>
              <a:buChar char="•"/>
            </a:pPr>
            <a:r>
              <a:rPr lang="en-US" sz="3422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Token Negativi</a:t>
            </a:r>
            <a:r>
              <a:rPr lang="en-US" sz="34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fascista, propaganda, antifascista, nwo, fucktrump, referendum.</a:t>
            </a:r>
          </a:p>
          <a:p>
            <a:pPr marL="738822" lvl="1" indent="-369411" algn="l">
              <a:lnSpc>
                <a:spcPts val="4790"/>
              </a:lnSpc>
              <a:buFont typeface="Arial"/>
              <a:buChar char="•"/>
            </a:pPr>
            <a:r>
              <a:rPr lang="en-US" sz="3422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Token Neutrali</a:t>
            </a:r>
            <a:r>
              <a:rPr lang="en-US" sz="34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(Informativi): referendum, destra, governo, parlamento.</a:t>
            </a:r>
          </a:p>
          <a:p>
            <a:pPr marL="738822" lvl="1" indent="-369411" algn="l">
              <a:lnSpc>
                <a:spcPts val="4790"/>
              </a:lnSpc>
              <a:buFont typeface="Arial"/>
              <a:buChar char="•"/>
            </a:pPr>
            <a:r>
              <a:rPr lang="en-US" sz="3422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Token Positivi</a:t>
            </a:r>
            <a:r>
              <a:rPr lang="en-US" sz="34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grazie, oggi, premier, italia, buon.</a:t>
            </a:r>
          </a:p>
          <a:p>
            <a:pPr algn="l">
              <a:lnSpc>
                <a:spcPts val="4790"/>
              </a:lnSpc>
            </a:pPr>
            <a:r>
              <a:rPr lang="en-US" sz="3422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è possibile notare come i token negativi siano molto specifici, mentre i token positivi siano molto generici, probabilmente per bias della piattaforma.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231800" y="8318646"/>
            <a:ext cx="2521001" cy="4114800"/>
          </a:xfrm>
          <a:custGeom>
            <a:avLst/>
            <a:gdLst/>
            <a:ahLst/>
            <a:cxnLst/>
            <a:rect l="l" t="t" r="r" b="b"/>
            <a:pathLst>
              <a:path w="2521001" h="4114800">
                <a:moveTo>
                  <a:pt x="2521000" y="0"/>
                </a:moveTo>
                <a:lnTo>
                  <a:pt x="0" y="0"/>
                </a:lnTo>
                <a:lnTo>
                  <a:pt x="0" y="4114800"/>
                </a:lnTo>
                <a:lnTo>
                  <a:pt x="2521000" y="4114800"/>
                </a:lnTo>
                <a:lnTo>
                  <a:pt x="25210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3351692" cy="4114800"/>
          </a:xfrm>
          <a:custGeom>
            <a:avLst/>
            <a:gdLst/>
            <a:ahLst/>
            <a:cxnLst/>
            <a:rect l="l" t="t" r="r" b="b"/>
            <a:pathLst>
              <a:path w="3351692" h="4114800">
                <a:moveTo>
                  <a:pt x="0" y="0"/>
                </a:moveTo>
                <a:lnTo>
                  <a:pt x="3351692" y="0"/>
                </a:lnTo>
                <a:lnTo>
                  <a:pt x="3351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3743152" y="2302638"/>
            <a:ext cx="10889802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39857" y="4379081"/>
            <a:ext cx="10008286" cy="230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2"/>
              </a:lnSpc>
            </a:pPr>
            <a:r>
              <a:rPr lang="en-US" sz="3316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BIAS DELLA PIATTAFORMA</a:t>
            </a: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Bluesky sembra mostrare un netto sbilanciamento politico dell’utenza, con una spiccata tendenza alla critica (sentiment negativo) verso la Presidente.</a:t>
            </a:r>
          </a:p>
        </p:txBody>
      </p:sp>
    </p:spTree>
  </p:cSld>
  <p:clrMapOvr>
    <a:masterClrMapping/>
  </p:clrMapOvr>
  <p:transition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3351692" cy="4114800"/>
          </a:xfrm>
          <a:custGeom>
            <a:avLst/>
            <a:gdLst/>
            <a:ahLst/>
            <a:cxnLst/>
            <a:rect l="l" t="t" r="r" b="b"/>
            <a:pathLst>
              <a:path w="3351692" h="4114800">
                <a:moveTo>
                  <a:pt x="0" y="0"/>
                </a:moveTo>
                <a:lnTo>
                  <a:pt x="3351692" y="0"/>
                </a:lnTo>
                <a:lnTo>
                  <a:pt x="3351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3743152" y="2302638"/>
            <a:ext cx="10889802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Sviluppi futuri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39857" y="4379081"/>
            <a:ext cx="10008286" cy="346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2"/>
              </a:lnSpc>
            </a:pPr>
            <a:r>
              <a:rPr lang="en-US" sz="3316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Possibile bias nell’estrazione delle keywords</a:t>
            </a: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L’estrazione delle keywords tramite il download dei post del giorno e l’utilizzo di keywords potrebbe essere soggetta a bias temporale poichè nel giorno analizzato potrebbero essere associate keywords che gli altri giorni non sarebbero state associate.</a:t>
            </a:r>
          </a:p>
        </p:txBody>
      </p:sp>
    </p:spTree>
  </p:cSld>
  <p:clrMapOvr>
    <a:masterClrMapping/>
  </p:clrMapOvr>
  <p:transition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3351692" cy="4114800"/>
          </a:xfrm>
          <a:custGeom>
            <a:avLst/>
            <a:gdLst/>
            <a:ahLst/>
            <a:cxnLst/>
            <a:rect l="l" t="t" r="r" b="b"/>
            <a:pathLst>
              <a:path w="3351692" h="4114800">
                <a:moveTo>
                  <a:pt x="0" y="0"/>
                </a:moveTo>
                <a:lnTo>
                  <a:pt x="3351692" y="0"/>
                </a:lnTo>
                <a:lnTo>
                  <a:pt x="3351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0" y="-112991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0518154" y="9157090"/>
            <a:ext cx="8229600" cy="2259820"/>
          </a:xfrm>
          <a:custGeom>
            <a:avLst/>
            <a:gdLst/>
            <a:ahLst/>
            <a:cxnLst/>
            <a:rect l="l" t="t" r="r" b="b"/>
            <a:pathLst>
              <a:path w="8229600" h="2259820">
                <a:moveTo>
                  <a:pt x="0" y="0"/>
                </a:moveTo>
                <a:lnTo>
                  <a:pt x="8229600" y="0"/>
                </a:lnTo>
                <a:lnTo>
                  <a:pt x="8229600" y="2259820"/>
                </a:lnTo>
                <a:lnTo>
                  <a:pt x="0" y="2259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417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3743152" y="2302638"/>
            <a:ext cx="10889802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Sviluppi futuri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39857" y="4379081"/>
            <a:ext cx="10008286" cy="288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2"/>
              </a:lnSpc>
            </a:pPr>
            <a:r>
              <a:rPr lang="en-US" sz="3316" b="1">
                <a:solidFill>
                  <a:srgbClr val="B24B3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Applicare pipeline ad altri leader politici</a:t>
            </a:r>
            <a:r>
              <a:rPr lang="en-US" sz="3316">
                <a:solidFill>
                  <a:srgbClr val="B24B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Questa fase potrebbe confermare definitivamente la presenza di bias negativo verso meloni oppure se il sentiment negativo è una caratteristica generale dell’utenza verso i politici (o proprio in generale).</a:t>
            </a:r>
          </a:p>
        </p:txBody>
      </p:sp>
    </p:spTree>
  </p:cSld>
  <p:clrMapOvr>
    <a:masterClrMapping/>
  </p:clrMapOvr>
  <p:transition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3351692" cy="4114800"/>
          </a:xfrm>
          <a:custGeom>
            <a:avLst/>
            <a:gdLst/>
            <a:ahLst/>
            <a:cxnLst/>
            <a:rect l="l" t="t" r="r" b="b"/>
            <a:pathLst>
              <a:path w="3351692" h="4114800">
                <a:moveTo>
                  <a:pt x="0" y="0"/>
                </a:moveTo>
                <a:lnTo>
                  <a:pt x="3351692" y="0"/>
                </a:lnTo>
                <a:lnTo>
                  <a:pt x="3351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3757092" y="0"/>
            <a:ext cx="4530908" cy="3171635"/>
          </a:xfrm>
          <a:custGeom>
            <a:avLst/>
            <a:gdLst/>
            <a:ahLst/>
            <a:cxnLst/>
            <a:rect l="l" t="t" r="r" b="b"/>
            <a:pathLst>
              <a:path w="4530908" h="3171635">
                <a:moveTo>
                  <a:pt x="0" y="0"/>
                </a:moveTo>
                <a:lnTo>
                  <a:pt x="4530908" y="0"/>
                </a:lnTo>
                <a:lnTo>
                  <a:pt x="4530908" y="3171635"/>
                </a:lnTo>
                <a:lnTo>
                  <a:pt x="0" y="3171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 flipH="1">
            <a:off x="0" y="0"/>
            <a:ext cx="2521001" cy="4114800"/>
          </a:xfrm>
          <a:custGeom>
            <a:avLst/>
            <a:gdLst/>
            <a:ahLst/>
            <a:cxnLst/>
            <a:rect l="l" t="t" r="r" b="b"/>
            <a:pathLst>
              <a:path w="2521001" h="4114800">
                <a:moveTo>
                  <a:pt x="2521001" y="0"/>
                </a:moveTo>
                <a:lnTo>
                  <a:pt x="0" y="0"/>
                </a:lnTo>
                <a:lnTo>
                  <a:pt x="0" y="4114800"/>
                </a:lnTo>
                <a:lnTo>
                  <a:pt x="2521001" y="4114800"/>
                </a:lnTo>
                <a:lnTo>
                  <a:pt x="252100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3232464" y="4274503"/>
            <a:ext cx="11911178" cy="319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B24B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GRAZIE PER L’ATTENZIONE</a:t>
            </a:r>
          </a:p>
        </p:txBody>
      </p:sp>
      <p:sp>
        <p:nvSpPr>
          <p:cNvPr id="7" name="Freeform 7"/>
          <p:cNvSpPr/>
          <p:nvPr/>
        </p:nvSpPr>
        <p:spPr>
          <a:xfrm>
            <a:off x="15766999" y="6172200"/>
            <a:ext cx="2521001" cy="4114800"/>
          </a:xfrm>
          <a:custGeom>
            <a:avLst/>
            <a:gdLst/>
            <a:ahLst/>
            <a:cxnLst/>
            <a:rect l="l" t="t" r="r" b="b"/>
            <a:pathLst>
              <a:path w="2521001" h="4114800">
                <a:moveTo>
                  <a:pt x="0" y="0"/>
                </a:moveTo>
                <a:lnTo>
                  <a:pt x="2521001" y="0"/>
                </a:lnTo>
                <a:lnTo>
                  <a:pt x="25210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1123</Words>
  <Application>Microsoft Office PowerPoint</Application>
  <PresentationFormat>Personalizzato</PresentationFormat>
  <Paragraphs>79</Paragraphs>
  <Slides>26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26</vt:i4>
      </vt:variant>
    </vt:vector>
  </HeadingPairs>
  <TitlesOfParts>
    <vt:vector size="33" baseType="lpstr">
      <vt:lpstr>Arial</vt:lpstr>
      <vt:lpstr>Glacial Indifference Bold</vt:lpstr>
      <vt:lpstr>Calibri</vt:lpstr>
      <vt:lpstr>Anca Coder</vt:lpstr>
      <vt:lpstr>League Spartan</vt:lpstr>
      <vt:lpstr>Glacial Indifference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Rosso e Bianco Moderno Presentazione</dc:title>
  <cp:lastModifiedBy>VITO GERARDO PIEGARI</cp:lastModifiedBy>
  <cp:revision>2</cp:revision>
  <dcterms:created xsi:type="dcterms:W3CDTF">2006-08-16T00:00:00Z</dcterms:created>
  <dcterms:modified xsi:type="dcterms:W3CDTF">2026-07-12T12:35:13Z</dcterms:modified>
  <dc:identifier>DAHPHy3H8ko</dc:identifier>
</cp:coreProperties>
</file>